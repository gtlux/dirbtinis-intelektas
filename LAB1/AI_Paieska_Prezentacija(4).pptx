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069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1371600"/>
            <a:ext cx="3200400" cy="3200400"/>
          </a:xfrm>
          <a:prstGeom prst="ellipse">
            <a:avLst/>
          </a:prstGeom>
          <a:solidFill>
            <a:srgbClr val="3D85C8">
              <a:alpha val="15000"/>
            </a:srgbClr>
          </a:solidFill>
          <a:ln w="12700">
            <a:solidFill>
              <a:srgbClr val="3D85C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1828800"/>
            <a:ext cx="2286000" cy="22860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9A7"/>
                </a:solidFill>
              </a:rPr>
              <a:t>DIRBTINIS INTELEKTAS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Paieškos Algoritmai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AEC0"/>
                </a:solidFill>
              </a:rPr>
              <a:t>AIMA architektūra • BFS / DFS / A* • Euristikos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2004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Jaroslav Vetrenko  •  Matas Kubilius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Dirbtinio intelekto pagrindai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Pristatymo turinys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170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</a:rPr>
              <a:t>1.1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1704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Paieškos uždaviniai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572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EightPuzzle ir Romania maršrutas – būsenos, BFS/DFS, euristikos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3591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</a:rPr>
              <a:t>1.2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3591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Architektūra (Debug)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7614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Problem / Node / Search klasės – AIMA architektūra per trasavimą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5478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A7"/>
                </a:solidFill>
              </a:rPr>
              <a:t>1.3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5478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Savasis uždavinys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9502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Ūkininkas, Lapė, Višta, Grūdai – FarmerProblem klasė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Du paieškos uždaviniai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023360" cy="4023360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</a:rPr>
              <a:t>🧩  EightPuzzle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3×3 lenta su 8 plytelėmis ir viena tuščia vieta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466344" cy="466344"/>
          </a:xfrm>
          <a:prstGeom prst="rect">
            <a:avLst/>
          </a:prstGeom>
          <a:solidFill>
            <a:srgbClr val="2A3F5F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4663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1965960"/>
            <a:ext cx="466344" cy="466344"/>
          </a:xfrm>
          <a:prstGeom prst="rect">
            <a:avLst/>
          </a:prstGeom>
          <a:solidFill>
            <a:srgbClr val="2A3F5F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1965960"/>
            <a:ext cx="4663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91640" y="1965960"/>
            <a:ext cx="466344" cy="466344"/>
          </a:xfrm>
          <a:prstGeom prst="rect">
            <a:avLst/>
          </a:prstGeom>
          <a:solidFill>
            <a:srgbClr val="2A3F5F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1965960"/>
            <a:ext cx="4663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" y="2468880"/>
            <a:ext cx="466344" cy="466344"/>
          </a:xfrm>
          <a:prstGeom prst="rect">
            <a:avLst/>
          </a:prstGeom>
          <a:solidFill>
            <a:srgbClr val="2A3F5F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468880"/>
            <a:ext cx="4663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88720" y="2468880"/>
            <a:ext cx="466344" cy="466344"/>
          </a:xfrm>
          <a:prstGeom prst="rect">
            <a:avLst/>
          </a:prstGeom>
          <a:solidFill>
            <a:srgbClr val="2A3F5F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88720" y="2468880"/>
            <a:ext cx="4663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691640" y="2468880"/>
            <a:ext cx="466344" cy="466344"/>
          </a:xfrm>
          <a:prstGeom prst="rect">
            <a:avLst/>
          </a:prstGeom>
          <a:solidFill>
            <a:srgbClr val="2A3F5F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91640" y="2468880"/>
            <a:ext cx="4663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" y="2971800"/>
            <a:ext cx="466344" cy="466344"/>
          </a:xfrm>
          <a:prstGeom prst="rect">
            <a:avLst/>
          </a:prstGeom>
          <a:solidFill>
            <a:srgbClr val="2A3F5F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2971800"/>
            <a:ext cx="4663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88720" y="2971800"/>
            <a:ext cx="466344" cy="466344"/>
          </a:xfrm>
          <a:prstGeom prst="rect">
            <a:avLst/>
          </a:prstGeom>
          <a:solidFill>
            <a:srgbClr val="2A3F5F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88720" y="2971800"/>
            <a:ext cx="46634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691640" y="2971800"/>
            <a:ext cx="466344" cy="466344"/>
          </a:xfrm>
          <a:prstGeom prst="rect">
            <a:avLst/>
          </a:prstGeom>
          <a:solidFill>
            <a:srgbClr val="00C9A7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</a:rPr>
              <a:t>Pirminė būsena: (2,4,3,1,5,6,7,8,0)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</a:rPr>
              <a:t>Galinė būsena: (1,2,3,4,5,6,7,8,0)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</a:rPr>
              <a:t>Kintamasis: state (tuple, 9 elem.) + blank (indeksas)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868680"/>
            <a:ext cx="4023360" cy="402336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5C8"/>
                </a:solidFill>
              </a:rPr>
              <a:t>🗺️  Romania maršrutas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9204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Trumpiausio kelio paieška tarp miestų Rumunijoje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2103120"/>
            <a:ext cx="594360" cy="365760"/>
          </a:xfrm>
          <a:prstGeom prst="ellipse">
            <a:avLst/>
          </a:prstGeom>
          <a:solidFill>
            <a:srgbClr val="3D85C8">
              <a:alpha val="60000"/>
            </a:srgbClr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37760" y="21031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Arad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614416" y="2377440"/>
            <a:ext cx="594360" cy="365760"/>
          </a:xfrm>
          <a:prstGeom prst="ellipse">
            <a:avLst/>
          </a:prstGeom>
          <a:solidFill>
            <a:srgbClr val="3D85C8">
              <a:alpha val="60000"/>
            </a:srgbClr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14416" y="2377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Sibiu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901184" y="2491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</a:rPr>
              <a:t>140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91072" y="2103120"/>
            <a:ext cx="594360" cy="365760"/>
          </a:xfrm>
          <a:prstGeom prst="ellipse">
            <a:avLst/>
          </a:prstGeom>
          <a:solidFill>
            <a:srgbClr val="3D85C8">
              <a:alpha val="60000"/>
            </a:srgbClr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91072" y="21031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Rimni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54496" y="2468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</a:rPr>
              <a:t>80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67728" y="2377440"/>
            <a:ext cx="594360" cy="365760"/>
          </a:xfrm>
          <a:prstGeom prst="ellipse">
            <a:avLst/>
          </a:prstGeom>
          <a:solidFill>
            <a:srgbClr val="3D85C8">
              <a:alpha val="60000"/>
            </a:srgbClr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67728" y="2377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Pitesti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67728" y="27096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</a:rPr>
              <a:t>97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644384" y="2103120"/>
            <a:ext cx="594360" cy="3657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644384" y="21031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Bucha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635240" y="24795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A7"/>
                </a:solidFill>
              </a:rPr>
              <a:t>101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EC0"/>
                </a:solidFill>
              </a:rPr>
              <a:t>Arad ──140──► Sibiu ──80──► Rimnicu ──97──► Pitesti ──101──► Bucharest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9204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</a:rPr>
              <a:t>Pirminė būsena: state = "Arad"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</a:rPr>
              <a:t>Galinė būsena: state = "Bucharest"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9204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</a:rPr>
              <a:t>Kintamasis: state (str) + path_cost (int)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1.1  EightPuzzle – 6 būsenos iki sprendimo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</a:rPr>
              <a:t>Veiksmai: DOWN → LEFT → DOWN → RIGHT → RIGHT  (5 žingsniai)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795528"/>
            <a:ext cx="2621280" cy="1920240"/>
          </a:xfrm>
          <a:prstGeom prst="rect">
            <a:avLst/>
          </a:prstGeom>
          <a:solidFill>
            <a:srgbClr val="1E2D40"/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" y="795528"/>
            <a:ext cx="2621280" cy="3108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795528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4"/>
                </a:solidFill>
              </a:rPr>
              <a:t>BŪSENA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133856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9A7"/>
                </a:solidFill>
              </a:rPr>
              <a:t>🟢 Pirminė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95172" y="1385316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5172" y="13853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415796" y="1385316"/>
            <a:ext cx="374904" cy="374904"/>
          </a:xfrm>
          <a:prstGeom prst="rect">
            <a:avLst/>
          </a:prstGeom>
          <a:solidFill>
            <a:srgbClr val="00C9A7"/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36420" y="1385316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36420" y="13853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95172" y="180594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5172" y="180594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415796" y="180594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15796" y="180594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836420" y="180594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36420" y="180594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95172" y="222656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5172" y="222656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415796" y="222656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15796" y="222656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836420" y="222656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36420" y="222656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8328" y="2679192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EC0"/>
                </a:solidFill>
              </a:rPr>
              <a:t>blank = 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41320" y="1810512"/>
            <a:ext cx="292608" cy="22860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00172" y="1643634"/>
            <a:ext cx="37490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85C8"/>
                </a:solidFill>
              </a:rPr>
              <a:t>DOWN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61360" y="795528"/>
            <a:ext cx="2621280" cy="192024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61360" y="795528"/>
            <a:ext cx="2621280" cy="310896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61360" y="795528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BŪSENA 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07080" y="1133856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</a:rPr>
              <a:t>veiksmas=DOWN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63924" y="1385316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963924" y="13853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384548" y="1385316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84548" y="13853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805172" y="1385316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5172" y="13853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963924" y="180594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963924" y="180594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384548" y="1805940"/>
            <a:ext cx="374904" cy="374904"/>
          </a:xfrm>
          <a:prstGeom prst="rect">
            <a:avLst/>
          </a:prstGeom>
          <a:solidFill>
            <a:srgbClr val="00C9A7"/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05172" y="180594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5172" y="180594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963924" y="222656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963924" y="222656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384548" y="222656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384548" y="222656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805172" y="222656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05172" y="222656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3307080" y="2682240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EC0"/>
                </a:solidFill>
              </a:rPr>
              <a:t>blank = 4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10072" y="1810512"/>
            <a:ext cx="292608" cy="22860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910072" y="159105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85C8"/>
                </a:solidFill>
              </a:rPr>
              <a:t>LEFT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30112" y="795528"/>
            <a:ext cx="2621280" cy="192024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230112" y="795528"/>
            <a:ext cx="2621280" cy="310896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30112" y="795528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BŪSENA 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275832" y="1133856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</a:rPr>
              <a:t>veiksmas=LEFT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932676" y="1385316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32676" y="13853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7353300" y="1385316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353300" y="13853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7773924" y="1385316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773924" y="13853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6932676" y="1805940"/>
            <a:ext cx="374904" cy="374904"/>
          </a:xfrm>
          <a:prstGeom prst="rect">
            <a:avLst/>
          </a:prstGeom>
          <a:solidFill>
            <a:srgbClr val="00C9A7"/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353300" y="180594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353300" y="180594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7773924" y="180594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773924" y="180594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6932676" y="222656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932676" y="222656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7353300" y="222656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353300" y="222656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7773924" y="222656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773924" y="222656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6275832" y="2679192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EC0"/>
                </a:solidFill>
              </a:rPr>
              <a:t>blank = 3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891272" y="27157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85C8"/>
                </a:solidFill>
              </a:rPr>
              <a:t>↓  DOWN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92608" y="2862072"/>
            <a:ext cx="2621280" cy="192024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92608" y="2862072"/>
            <a:ext cx="2621280" cy="310896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92608" y="2862072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BŪSENA 3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338328" y="3200400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</a:rPr>
              <a:t>veiksmas=DOWN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95172" y="345186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95172" y="345186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1415796" y="345186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415796" y="345186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1836420" y="345186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836420" y="345186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995172" y="387248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95172" y="387248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1415796" y="387248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415796" y="387248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90" name="Shape 88"/>
          <p:cNvSpPr/>
          <p:nvPr/>
        </p:nvSpPr>
        <p:spPr>
          <a:xfrm>
            <a:off x="1836420" y="387248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836420" y="387248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995172" y="4293108"/>
            <a:ext cx="374904" cy="374904"/>
          </a:xfrm>
          <a:prstGeom prst="rect">
            <a:avLst/>
          </a:prstGeom>
          <a:solidFill>
            <a:srgbClr val="00C9A7"/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415796" y="4293108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1415796" y="4293108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95" name="Shape 93"/>
          <p:cNvSpPr/>
          <p:nvPr/>
        </p:nvSpPr>
        <p:spPr>
          <a:xfrm>
            <a:off x="1836420" y="4293108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1836420" y="4293108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97" name="Text 95"/>
          <p:cNvSpPr/>
          <p:nvPr/>
        </p:nvSpPr>
        <p:spPr>
          <a:xfrm>
            <a:off x="338328" y="4773168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EC0"/>
                </a:solidFill>
              </a:rPr>
              <a:t>blank = 6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941320" y="3877056"/>
            <a:ext cx="292608" cy="22860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2941320" y="3657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85C8"/>
                </a:solidFill>
              </a:rPr>
              <a:t>RIGHT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3261360" y="2862072"/>
            <a:ext cx="2621280" cy="192024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3261360" y="2862072"/>
            <a:ext cx="2621280" cy="310896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3261360" y="2862072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BŪSENA 4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3307080" y="3200400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</a:rPr>
              <a:t>veiksmas=RIGHT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963924" y="345186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963924" y="345186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6" name="Shape 104"/>
          <p:cNvSpPr/>
          <p:nvPr/>
        </p:nvSpPr>
        <p:spPr>
          <a:xfrm>
            <a:off x="4384548" y="345186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384548" y="345186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8" name="Shape 106"/>
          <p:cNvSpPr/>
          <p:nvPr/>
        </p:nvSpPr>
        <p:spPr>
          <a:xfrm>
            <a:off x="4805172" y="345186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4805172" y="345186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10" name="Shape 108"/>
          <p:cNvSpPr/>
          <p:nvPr/>
        </p:nvSpPr>
        <p:spPr>
          <a:xfrm>
            <a:off x="3963924" y="387248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3963924" y="387248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12" name="Shape 110"/>
          <p:cNvSpPr/>
          <p:nvPr/>
        </p:nvSpPr>
        <p:spPr>
          <a:xfrm>
            <a:off x="4384548" y="387248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4384548" y="387248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14" name="Shape 112"/>
          <p:cNvSpPr/>
          <p:nvPr/>
        </p:nvSpPr>
        <p:spPr>
          <a:xfrm>
            <a:off x="4805172" y="387248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4805172" y="387248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116" name="Shape 114"/>
          <p:cNvSpPr/>
          <p:nvPr/>
        </p:nvSpPr>
        <p:spPr>
          <a:xfrm>
            <a:off x="3963924" y="4293108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3963924" y="4293108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118" name="Shape 116"/>
          <p:cNvSpPr/>
          <p:nvPr/>
        </p:nvSpPr>
        <p:spPr>
          <a:xfrm>
            <a:off x="4384548" y="4293108"/>
            <a:ext cx="374904" cy="374904"/>
          </a:xfrm>
          <a:prstGeom prst="rect">
            <a:avLst/>
          </a:prstGeom>
          <a:solidFill>
            <a:srgbClr val="00C9A7"/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805172" y="4293108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4805172" y="4293108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121" name="Text 119"/>
          <p:cNvSpPr/>
          <p:nvPr/>
        </p:nvSpPr>
        <p:spPr>
          <a:xfrm>
            <a:off x="3307080" y="4782312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EC0"/>
                </a:solidFill>
              </a:rPr>
              <a:t>blank = 7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5910072" y="3877056"/>
            <a:ext cx="292608" cy="22860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5910072" y="3657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85C8"/>
                </a:solidFill>
              </a:rPr>
              <a:t>RIGHT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6230112" y="2862072"/>
            <a:ext cx="2621280" cy="1920240"/>
          </a:xfrm>
          <a:prstGeom prst="rect">
            <a:avLst/>
          </a:prstGeom>
          <a:solidFill>
            <a:srgbClr val="0A2018"/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6230112" y="2862072"/>
            <a:ext cx="2621280" cy="3108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6230112" y="2862072"/>
            <a:ext cx="262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4"/>
                </a:solidFill>
              </a:rPr>
              <a:t>BŪSENA 5</a:t>
            </a:r>
            <a:endParaRPr lang="en-US" sz="1200" dirty="0"/>
          </a:p>
        </p:txBody>
      </p:sp>
      <p:sp>
        <p:nvSpPr>
          <p:cNvPr id="127" name="Text 125"/>
          <p:cNvSpPr/>
          <p:nvPr/>
        </p:nvSpPr>
        <p:spPr>
          <a:xfrm>
            <a:off x="6275832" y="3200400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9A7"/>
                </a:solidFill>
              </a:rPr>
              <a:t>🎯 Galinė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932676" y="345186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6932676" y="345186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30" name="Shape 128"/>
          <p:cNvSpPr/>
          <p:nvPr/>
        </p:nvSpPr>
        <p:spPr>
          <a:xfrm>
            <a:off x="7353300" y="345186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7353300" y="345186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2" name="Shape 130"/>
          <p:cNvSpPr/>
          <p:nvPr/>
        </p:nvSpPr>
        <p:spPr>
          <a:xfrm>
            <a:off x="7773924" y="3451860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7773924" y="3451860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34" name="Shape 132"/>
          <p:cNvSpPr/>
          <p:nvPr/>
        </p:nvSpPr>
        <p:spPr>
          <a:xfrm>
            <a:off x="6932676" y="387248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6932676" y="387248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7353300" y="387248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7353300" y="387248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38" name="Shape 136"/>
          <p:cNvSpPr/>
          <p:nvPr/>
        </p:nvSpPr>
        <p:spPr>
          <a:xfrm>
            <a:off x="7773924" y="3872484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7773924" y="3872484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140" name="Shape 138"/>
          <p:cNvSpPr/>
          <p:nvPr/>
        </p:nvSpPr>
        <p:spPr>
          <a:xfrm>
            <a:off x="6932676" y="4293108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6932676" y="4293108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142" name="Shape 140"/>
          <p:cNvSpPr/>
          <p:nvPr/>
        </p:nvSpPr>
        <p:spPr>
          <a:xfrm>
            <a:off x="7353300" y="4293108"/>
            <a:ext cx="374904" cy="374904"/>
          </a:xfrm>
          <a:prstGeom prst="rect">
            <a:avLst/>
          </a:prstGeom>
          <a:solidFill>
            <a:srgbClr val="1C305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Text 141"/>
          <p:cNvSpPr/>
          <p:nvPr/>
        </p:nvSpPr>
        <p:spPr>
          <a:xfrm>
            <a:off x="7353300" y="4293108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144" name="Shape 142"/>
          <p:cNvSpPr/>
          <p:nvPr/>
        </p:nvSpPr>
        <p:spPr>
          <a:xfrm>
            <a:off x="7773924" y="4293108"/>
            <a:ext cx="374904" cy="374904"/>
          </a:xfrm>
          <a:prstGeom prst="rect">
            <a:avLst/>
          </a:prstGeom>
          <a:solidFill>
            <a:srgbClr val="00C9A7"/>
          </a:solidFill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3"/>
          <p:cNvSpPr/>
          <p:nvPr/>
        </p:nvSpPr>
        <p:spPr>
          <a:xfrm>
            <a:off x="6275832" y="4782312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EC0"/>
                </a:solidFill>
              </a:rPr>
              <a:t>blank = 8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BFS vs DFS – Eilė ir Stekas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4023360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02336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4"/>
                </a:solidFill>
              </a:rPr>
              <a:t>BFS  –  Paieška į PLOTĮ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FIFO eilė (Queue)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Išima iš PRIEKIO, deda į GALĄ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3749040" cy="822960"/>
          </a:xfrm>
          <a:prstGeom prst="rect">
            <a:avLst/>
          </a:prstGeom>
          <a:solidFill>
            <a:srgbClr val="0D1A2A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= FIFOQueue()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frontier.popleft()  ← ima iš priekio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frontier.append(child)  ← deda į galą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Garantuoja trumpiausią kelią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❌  Daug atminties (visa eilė)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</a:rPr>
              <a:t>Analogija: bangos vandenyje – visi artimi pirmiau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4023360" cy="402336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4023360" cy="411480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877824"/>
            <a:ext cx="3749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DFS  –  Paieška į GYLĮ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85C8"/>
                </a:solidFill>
              </a:rPr>
              <a:t>LIFO stekas (Stack)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Išima iš GALO, deda į GALĄ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148840"/>
            <a:ext cx="3749040" cy="822960"/>
          </a:xfrm>
          <a:prstGeom prst="rect">
            <a:avLst/>
          </a:prstGeom>
          <a:solidFill>
            <a:srgbClr val="0D1A2A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8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= LIFOQueue()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8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frontier.pop()      ← ima iš galo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D85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frontier.append(child)  ← deda į galą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✅  Mažai atminties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❌  </a:t>
            </a:r>
            <a:r>
              <a:rPr lang="en-US" sz="1200" dirty="0" err="1">
                <a:solidFill>
                  <a:srgbClr val="A0AEC0"/>
                </a:solidFill>
              </a:rPr>
              <a:t>Negarantuoja</a:t>
            </a:r>
            <a:r>
              <a:rPr lang="en-US" sz="1200" dirty="0">
                <a:solidFill>
                  <a:srgbClr val="A0AEC0"/>
                </a:solidFill>
              </a:rPr>
              <a:t> trumpiausio kelio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</a:rPr>
              <a:t>Analogija: labirintas – einam tol kol galim, tada grįžtam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Euristikos – paieškos pagreitinimas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AEC0"/>
                </a:solidFill>
              </a:rPr>
              <a:t>Euristika h(n) – įvertinimas, kiek dar liko iki tikslo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713232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73152" cy="7132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85C8"/>
                </a:solidFill>
              </a:rPr>
              <a:t>BFS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472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nenaudoja 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3898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Lėčiausias, bet tikslus (pagal žingsnių skaičių)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8412480" cy="713232"/>
          </a:xfrm>
          <a:prstGeom prst="rect">
            <a:avLst/>
          </a:prstGeom>
          <a:solidFill>
            <a:srgbClr val="1E2D40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73152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2311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</a:rPr>
              <a:t>Best-First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2231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h(n)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23113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Greitas, bet ne visada optimalus sprendimas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08376"/>
            <a:ext cx="8412480" cy="713232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73152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0723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</a:rPr>
              <a:t>A*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30723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g(n) + h(n)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0723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</a:rPr>
              <a:t>Optimalus IR efektyvus – faktinė kaina + euristika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4114800" cy="914400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950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</a:rPr>
              <a:t>EightPuzzle euristikos: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279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• Netinkamų plytelių skaičius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• Manhattan atstumas iki tikslo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886200"/>
            <a:ext cx="4114800" cy="91440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3950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85C8"/>
                </a:solidFill>
              </a:rPr>
              <a:t>Romania euristika: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4279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• Tiesės atstumas iki Bucharest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  (geometrinis, ne kelio atstumas)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1.2  AIMA Architektūra – klasės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1828800"/>
          </a:xfrm>
          <a:prstGeom prst="rect">
            <a:avLst/>
          </a:prstGeom>
          <a:solidFill>
            <a:srgbClr val="1E2D40"/>
          </a:solidFill>
          <a:ln w="1905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69080" cy="457200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85C8"/>
                </a:solidFill>
              </a:rPr>
              <a:t>Abstrakti bazinė klasė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initial, goal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actions(state)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2311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result(state, action)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47802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goal_test(state)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12848" y="17434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path_cost(...)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069080" cy="1828800"/>
          </a:xfrm>
          <a:prstGeom prst="rect">
            <a:avLst/>
          </a:prstGeom>
          <a:solidFill>
            <a:srgbClr val="1E2D40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069080" cy="457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960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59B6"/>
                </a:solidFill>
              </a:rPr>
              <a:t>Paieškos medžio mazgas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state, parent, action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198424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path_cost, depth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2311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expand(problem)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47802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solution()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71488" y="17434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path()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4069080" cy="1828800"/>
          </a:xfrm>
          <a:prstGeom prst="rect">
            <a:avLst/>
          </a:prstGeom>
          <a:solidFill>
            <a:srgbClr val="1E2D40"/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406908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EightPuzzle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</a:rPr>
              <a:t>Paveldi iš Problem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8404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actions() → galimi judesiai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0873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result() → naujas state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3342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h() → euristika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4069080" cy="1828800"/>
          </a:xfrm>
          <a:prstGeom prst="rect">
            <a:avLst/>
          </a:prstGeom>
          <a:solidFill>
            <a:srgbClr val="1E2D40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406908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BFS / A*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006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7E22"/>
                </a:solidFill>
              </a:rPr>
              <a:t>Paieškos funkcija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8404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frontier (eilė/stekas)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408736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explored (aplankyti)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433425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node.expand(problem)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458114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• goal_test() → grąžina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64592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9A7"/>
                </a:solidFill>
              </a:rPr>
              <a:t>paveldi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0" y="2724912"/>
            <a:ext cx="0" cy="274320"/>
          </a:xfrm>
          <a:prstGeom prst="line">
            <a:avLst/>
          </a:prstGeom>
          <a:noFill/>
          <a:ln w="19050">
            <a:solidFill>
              <a:srgbClr val="00C9A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Debug trasavimas – BFS žingsnis po žingsnio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4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7772400" cy="123444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978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Sukuriamas šakninis mazgas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Node(state=(2,4,3,1,5,6,7,8,0), parent=None, depth=0)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618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= [Node((2,4,3,1,5,6,7,8,0))]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explored = {}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4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7772400" cy="123444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2350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Pirmoji iteracija – expand()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679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blank=8, galima: ['UP', 'LEFT'] (kraštas!)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9900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child1: action='UP',   state=(2,4,3,1,5,0,7,8,6)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child2: action='LEFT', state=(2,4,3,1,5,6,7,0,8)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4"/>
                </a:solidFill>
              </a:rPr>
              <a:t>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3657600"/>
            <a:ext cx="7772400" cy="123444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3000" y="3721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Rastas sprendimas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child.state == (1,2,3,4,5,6,7,8,0) → goal!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43616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child.solution() → ['DOWN','LEFT','UP',...]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1.3  Savasis uždavinys – Ūkininkas, Lapė, Višta, Grūdai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4114800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🎯  Uždavinio aprašas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Pirminė būsena: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(False, False, False, False)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visi kairėje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Galinė būsena: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87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(True, True, True, True)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visi dešinėje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Veiksmai: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• VIENAS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12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• SU_LAPE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968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• SU_VISTA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224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• SU_GRUDAIS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4114800" cy="411480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85C8"/>
                </a:solidFill>
              </a:rPr>
              <a:t>🏞️  Perėjimų schema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🧑🦊🐔🌾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408176"/>
            <a:ext cx="73152" cy="2560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8076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9A7"/>
                </a:solidFill>
              </a:rPr>
              <a:t>→ SU_VISTA →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89520" y="1408176"/>
            <a:ext cx="73152" cy="2560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99248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7099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</a:rPr>
              <a:t>(F,F,F,F)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09160" y="2029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🦊🌾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2066544"/>
            <a:ext cx="73152" cy="2560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2029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9A7"/>
                </a:solidFill>
              </a:rPr>
              <a:t>← VIENAS ←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89520" y="2066544"/>
            <a:ext cx="73152" cy="2560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99248" y="2029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🧑🐔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23682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</a:rPr>
              <a:t>(T,F,T,F)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9160" y="26883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🧑🦊🌾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2724912"/>
            <a:ext cx="73152" cy="2560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0760" y="2688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9A7"/>
                </a:solidFill>
              </a:rPr>
              <a:t>→ SU_LAPE →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89520" y="2724912"/>
            <a:ext cx="73152" cy="2560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99248" y="26883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30266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</a:rPr>
              <a:t>(F,F,T,F)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09160" y="33467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🌾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0" y="3383280"/>
            <a:ext cx="73152" cy="2560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80760" y="33467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9A7"/>
                </a:solidFill>
              </a:rPr>
              <a:t>→ SU_VISTA →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89520" y="3383280"/>
            <a:ext cx="73152" cy="2560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99248" y="33467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🧑🦊🐔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09160" y="36850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</a:rPr>
              <a:t>(T,T,T,F)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09160" y="40050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—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43600" y="4041648"/>
            <a:ext cx="73152" cy="2560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080760" y="40050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9A7"/>
                </a:solidFill>
              </a:rPr>
              <a:t>✓ TIKSLAS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589520" y="4041648"/>
            <a:ext cx="73152" cy="25603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699248" y="40050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🧑🦊🐔🌾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09160" y="4343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EC0"/>
                </a:solidFill>
              </a:rPr>
              <a:t>(T,T,T,T)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1.3  AI Prompts – Google Antigravity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</a:rPr>
              <a:t>Kodas negeneruotas – parodyti tik Prompt'us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9728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73152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Prompt #1 – Pagrindinė klasė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Create a Python class FarmerProblem that inherits from the AIMA Problem class in search.py. The problem is the classic farmer, fox, chicken and grain river crossing puzzle. State is a tuple of 4 booleans (farmer, fox, chicken, grain) where True means right bank, False means left bank. Implement actions(), result(), and goal_test(). Add a check for invalid states where fox eats chicken or chicken eats grain without the farmer present.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8412480" cy="109728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73152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32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Prompt #2 – Euristika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9864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Add a heuristic function h(node) to FarmerProblem that estimates how far we are from the goal by counting how many participants are still on the left bank.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solidFill>
            <a:srgbClr val="1E2D40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73152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7673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Prompt #3 – Vizualizacija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13308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</a:rPr>
              <a:t>Add a function spausdinti_busena(state, action) that prints the current state in a readable format showing who is on the left and right bank, separated by a river symbol.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Santrauka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60520" cy="1078992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🧩  EightPuzzle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state = tuple(9), blank = indeksas, veiksmai: UP/DOWN/LEFT/RIGHT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160520" cy="1078992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🗺️  Romania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356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state = str (miestas), path_cost = atstumas, h = tiesė iki Bucharest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160520" cy="1078992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 BFS vs DFS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70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FIFO eilė → plotis (garantija), LIFO stekas → gylis (atmintis)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194560"/>
            <a:ext cx="4160520" cy="1078992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A* ir euristika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670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f(n) = g(n) + h(n) – optimalus ir efektyvus algoritmas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4160520" cy="1078992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520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🏗️  AIMA architektūra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904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Problem → Node → Search funkcija (BFS/DFS/A*)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429000"/>
            <a:ext cx="4160520" cy="1078992"/>
          </a:xfrm>
          <a:prstGeom prst="rect">
            <a:avLst/>
          </a:prstGeom>
          <a:solidFill>
            <a:srgbClr val="1E2D40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520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🚣  FarmerProblem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04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State = 4 bool, is_valid() taisyklės, h = kiek liko kairėje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3D85C8"/>
          </a:solidFill>
          <a:ln w="12700">
            <a:solidFill>
              <a:srgbClr val="3D8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</a:rPr>
              <a:t>Jaroslav Vetrenko  •  Matas Kubilius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1197</Words>
  <Application>Microsoft Office PowerPoint</Application>
  <PresentationFormat>On-screen Show (16:9)</PresentationFormat>
  <Paragraphs>262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Dirbtinis Intelektas – Paieškos Algoritmai</dc:title>
  <dc:subject>PptxGenJS Presentation</dc:subject>
  <dc:creator>Jaroslav Vetrenko &amp; Matas Kubilius</dc:creator>
  <cp:lastModifiedBy>Jaroslav Vetrenko</cp:lastModifiedBy>
  <cp:revision>2</cp:revision>
  <dcterms:created xsi:type="dcterms:W3CDTF">2026-02-22T20:40:36Z</dcterms:created>
  <dcterms:modified xsi:type="dcterms:W3CDTF">2026-02-22T23:29:19Z</dcterms:modified>
</cp:coreProperties>
</file>